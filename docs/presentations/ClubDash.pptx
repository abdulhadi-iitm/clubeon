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774436" y="1726572"/>
            <a:ext cx="5961888" cy="2847070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ho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758576"/>
            <a:ext cx="5897880" cy="27830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1024128"/>
            <a:ext cx="64008" cy="1481328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868680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225296"/>
            <a:ext cx="4663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ClubDash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47088"/>
            <a:ext cx="484632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Sports Facility Booking</a:t>
            </a:r>
            <a:br/>
            <a:r>
              <a:rPr>
                <a:latin typeface="Aptos"/>
              </a:rPr>
              <a:t>&amp; Club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127248"/>
            <a:ext cx="4617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A unified platform for members, front-desk operations,</a:t>
            </a:r>
            <a:br/>
            <a:r>
              <a:rPr>
                <a:latin typeface="Aptos"/>
              </a:rPr>
              <a:t>location-aware discovery and conversational assistance.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4160520"/>
            <a:ext cx="1143000" cy="384048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2336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MEMBER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12264" y="4160520"/>
            <a:ext cx="1143000" cy="384048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2264" y="42336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STAFF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4160520"/>
            <a:ext cx="1143000" cy="384048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423367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8463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Vue 3  •  Flask  •  Modular Monolith  •  Scrum / Agile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5138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PROBLEM →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From fragmented club operations to one connected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Shared sports resources are limited; members, casual players and staff need different views of the same reservation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4028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WhatsApp, spreadsheets or paper logs make conflicts harder to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535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53512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953512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Members do not always see one clear source of truth for court status.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6674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66744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666744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Front desk needs a fast court × time view for the 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799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79976"/>
            <a:ext cx="1417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379976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Finding a nearby venue is often separate from the booking journey.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874519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THE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24028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2240280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24028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Court, date, time and sport-aware availability.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9535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953512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MANAGE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2953512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Upcoming, past and active reservations.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3666744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3666744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666744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Front-desk availability, attendance and members.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3799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437997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DISCOVER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379976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3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Bengaluru map, nearby venues and road routing.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285232"/>
            <a:ext cx="10972800" cy="685800"/>
          </a:xfrm>
          <a:prstGeom prst="roundRect">
            <a:avLst/>
          </a:prstGeom>
          <a:solidFill>
            <a:srgbClr val="162740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44982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CORE PRODUCT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5394960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One operational source of truth  •  multiple role-specific experiences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PRODUCT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One platform. Four connected experiences.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Role-specific surfaces share the same application layer, reservation state and domain capabilities.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74519"/>
            <a:ext cx="5166360" cy="157276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2130552"/>
            <a:ext cx="621792" cy="6217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3113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121408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247802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Discover, book, manage and engage.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8488" y="2953511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Dashboard • Book a Court • Nearby Courts • My Bookings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8" y="1874519"/>
            <a:ext cx="5166360" cy="157276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2130552"/>
            <a:ext cx="621792" cy="6217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231136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2121408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FRONT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247802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Operate the club in real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2953511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Bookings • Availability • Attendance • Members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49039"/>
            <a:ext cx="5166360" cy="157276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4005072"/>
            <a:ext cx="621792" cy="62179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05655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8488" y="3995927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PUBLIC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435254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Explain the product before authentication.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4828031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FB923C"/>
                </a:solidFill>
                <a:latin typeface="Aptos"/>
              </a:defRPr>
            </a:pPr>
            <a:r>
              <a:rPr>
                <a:latin typeface="Aptos"/>
              </a:rPr>
              <a:t>Landing • Sign in • Create account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9048" y="3749039"/>
            <a:ext cx="5166360" cy="157276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4005072"/>
            <a:ext cx="621792" cy="621792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105655"/>
            <a:ext cx="621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8" y="3995927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CLUBDASH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352544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Natural-language access to live club information.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4828031"/>
            <a:ext cx="3794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Member + Staff • role-aware • Phase 1 read-only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65099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PUBLIC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605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0512" y="565099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MEMBER / STAFF WORKSPACES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605272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5650992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AI ASSISTANCE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A modular monolith with explicit domain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Simple deployment model; explicit contracts between business capabilities. AI is an additional application layer, not a replacement for core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543800" cy="621792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7712" y="1947672"/>
            <a:ext cx="5623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Member portal  •  Front desk portal  •  Public site  •  AI 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459736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670048"/>
            <a:ext cx="7543800" cy="621792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82549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7712" y="2788920"/>
            <a:ext cx="5623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Flask API  •  authentication  •  role checks  •  assistant 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3300984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11296"/>
            <a:ext cx="7543800" cy="621792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66674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7712" y="3630168"/>
            <a:ext cx="5623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Users  •  Memberships  •  Bookings  •  Events  •  Payments  •  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4142231"/>
            <a:ext cx="274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352544"/>
            <a:ext cx="7543800" cy="621792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50799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FB923C"/>
                </a:solidFill>
                <a:latin typeface="Aptos"/>
              </a:defRPr>
            </a:pPr>
            <a:r>
              <a:rPr>
                <a:latin typeface="Aptos"/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4471416"/>
            <a:ext cx="5623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Database / ORM  •  OpenAI Responses API  •  OSRM  •  OpenStreetMap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9640" y="1828800"/>
            <a:ext cx="3063240" cy="3218688"/>
          </a:xfrm>
          <a:prstGeom prst="roundRect">
            <a:avLst/>
          </a:prstGeom>
          <a:solidFill>
            <a:srgbClr val="162740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42248" y="2084831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ARCHITECTURAL SEAM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42248" y="251460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PUBLIC FACADE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281635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Interfaces + DTOs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3154680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42248" y="34564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INTERNAL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42248" y="3749039"/>
            <a:ext cx="2331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Business logic + data access</a:t>
            </a:r>
            <a:br/>
            <a:r>
              <a:rPr>
                <a:latin typeface="Aptos"/>
              </a:rPr>
              <a:t>Not imported directly by other modules.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4553712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This keeps responsibilities explicit</a:t>
            </a:r>
            <a:br/>
            <a:r>
              <a:rPr>
                <a:latin typeface="Aptos"/>
              </a:rPr>
              <a:t>while avoiding unnecessary distributed-system complexity.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PUBLIC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A product-first entry point before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public surface establishes the promise; authentication then creates the role-aware workspace.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" y="2197346"/>
            <a:ext cx="6601968" cy="3149107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29350"/>
            <a:ext cx="6537960" cy="30850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28916" y="2736699"/>
            <a:ext cx="4315968" cy="2070401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768703"/>
            <a:ext cx="4251960" cy="2006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9808" y="5879592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LANDING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5852160"/>
            <a:ext cx="32918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 courts. Find players. Play more.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87959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AUTHENTICATION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5852160"/>
            <a:ext cx="2377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Sign in / Create Account + Google / Apple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MEMBER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The dashboard is the member's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Next reservation, booking metrics, club notices and the embedded AI concierge are available without leaving the authenticated workspace.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" y="1806201"/>
            <a:ext cx="7699248" cy="4159996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38205"/>
            <a:ext cx="7635240" cy="40959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828800"/>
            <a:ext cx="3063240" cy="1234440"/>
          </a:xfrm>
          <a:prstGeom prst="roundRect">
            <a:avLst/>
          </a:prstGeom>
          <a:solidFill>
            <a:srgbClr val="1B163C"/>
          </a:solidFill>
          <a:ln w="15240"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2039112"/>
            <a:ext cx="2468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★  CLUBDASH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2377440"/>
            <a:ext cx="2423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Floating concierge inside the</a:t>
            </a:r>
            <a:br/>
            <a:r>
              <a:rPr>
                <a:latin typeface="Aptos"/>
              </a:rPr>
              <a:t>existing member workspace.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310128"/>
            <a:ext cx="1417320" cy="932688"/>
          </a:xfrm>
          <a:prstGeom prst="roundRect">
            <a:avLst/>
          </a:prstGeom>
          <a:solidFill>
            <a:srgbClr val="111F34"/>
          </a:solidFill>
          <a:ln w="889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14232" y="3456432"/>
            <a:ext cx="1088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39319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UPCOMING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95560" y="3310128"/>
            <a:ext cx="1417320" cy="932688"/>
          </a:xfrm>
          <a:prstGeom prst="roundRect">
            <a:avLst/>
          </a:prstGeom>
          <a:solidFill>
            <a:srgbClr val="111F34"/>
          </a:solidFill>
          <a:ln w="889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60152" y="3456432"/>
            <a:ext cx="1088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0152" y="3931920"/>
            <a:ext cx="10881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TOTAL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443984"/>
            <a:ext cx="3063240" cy="10241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50808" y="4645152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0808" y="4649724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4626864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Persistent assistance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5010912"/>
            <a:ext cx="207568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Ask about bookings, events, availability, membership and club information without switching pages.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COURT BOOKING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Availability is surfaced exactly where the booking decision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Members choose club and date, compare sport-specific courts, then select an available time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" y="2092618"/>
            <a:ext cx="7607808" cy="3623738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24622"/>
            <a:ext cx="7543800" cy="35597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85632" y="181051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81051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130552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 + date + time-of-day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81635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8" y="28163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3136392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Tennis / badminton / basketball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822191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3822191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4142231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Selectable time slots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482803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482803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5148072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Book the selected slot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BOOKING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My Bookings turns reservations into a manageable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Upcoming, past and total activity are visible at a glance, with traceable booking IDs and release controls.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19072"/>
            <a:ext cx="1874519" cy="1005840"/>
          </a:xfrm>
          <a:prstGeom prst="roundRect">
            <a:avLst/>
          </a:prstGeom>
          <a:solidFill>
            <a:srgbClr val="111F34"/>
          </a:solidFill>
          <a:ln w="889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65376"/>
            <a:ext cx="1545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40864"/>
            <a:ext cx="1545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UPCOMING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3472" y="1719072"/>
            <a:ext cx="1874519" cy="1005840"/>
          </a:xfrm>
          <a:prstGeom prst="roundRect">
            <a:avLst/>
          </a:prstGeom>
          <a:solidFill>
            <a:srgbClr val="111F34"/>
          </a:solidFill>
          <a:ln w="889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8064" y="1865376"/>
            <a:ext cx="1545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2340864"/>
            <a:ext cx="1545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PAST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1719072"/>
            <a:ext cx="1874519" cy="1005840"/>
          </a:xfrm>
          <a:prstGeom prst="roundRect">
            <a:avLst/>
          </a:prstGeom>
          <a:solidFill>
            <a:srgbClr val="111F34"/>
          </a:solidFill>
          <a:ln w="889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7" y="1865376"/>
            <a:ext cx="15453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7" y="2340864"/>
            <a:ext cx="1545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9336" y="2939796"/>
            <a:ext cx="6361862" cy="3035808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o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40" y="2971800"/>
            <a:ext cx="6297854" cy="29718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595360" y="1719072"/>
            <a:ext cx="3017520" cy="100584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96528" y="1920240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6528" y="192481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901952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Upcoming / Past /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286000"/>
            <a:ext cx="2029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Fast filtering by reservation state.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880360"/>
            <a:ext cx="3017520" cy="100584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96528" y="3081528"/>
            <a:ext cx="384048" cy="384048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6528" y="308610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063240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Booking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447288"/>
            <a:ext cx="2029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Each reservation has a traceable identifier.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4041648"/>
            <a:ext cx="3017520" cy="100584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96528" y="4242816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424738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4224528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View details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4608576"/>
            <a:ext cx="20299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Inspect a reservation without leaving the workflow.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5202936"/>
            <a:ext cx="3017520" cy="86868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796528" y="5404104"/>
            <a:ext cx="384048" cy="38404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6528" y="5408676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08592" y="5385816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Release 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5769864"/>
            <a:ext cx="2029968" cy="1737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Clear action for cancelling an active reservation.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LOCATION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Nearby Courts turns location into a booking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Map-based discovery combines venue selection, road-route context, ETA and court-level availability.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" y="2035754"/>
            <a:ext cx="7790688" cy="3710035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o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67758"/>
            <a:ext cx="7726679" cy="36460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49640" y="178308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1783080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NEARBY VENUES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4272" y="2084831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Map markers surface facilities around the member.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81635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816352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ROAD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118104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In-app route shows distance and estimated travel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849624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3849624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COURT-AWARE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4151376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Selected venue exposes available courts and sport types.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882896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B923C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4882896"/>
            <a:ext cx="2331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3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EXTERNAL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5184648"/>
            <a:ext cx="23317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Google Maps handoff is available for live navigation.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FRONT-DESK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Staff get an operational view of every court and slot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front-desk portal is optimized for scanning the day quickly and acting on availability.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" y="2035754"/>
            <a:ext cx="7790688" cy="3710035"/>
          </a:xfrm>
          <a:prstGeom prst="roundRect">
            <a:avLst/>
          </a:prstGeom>
          <a:solidFill>
            <a:srgbClr val="040A1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67758"/>
            <a:ext cx="7726679" cy="364602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49640" y="1828800"/>
            <a:ext cx="3063240" cy="749808"/>
          </a:xfrm>
          <a:prstGeom prst="roundRect">
            <a:avLst/>
          </a:prstGeom>
          <a:solidFill>
            <a:srgbClr val="111F34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956816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30384" y="1929384"/>
            <a:ext cx="14447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Visible availability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2779776"/>
            <a:ext cx="3063240" cy="749808"/>
          </a:xfrm>
          <a:prstGeom prst="roundRect">
            <a:avLst/>
          </a:prstGeom>
          <a:solidFill>
            <a:srgbClr val="111F34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9077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BOOKED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30384" y="2880360"/>
            <a:ext cx="14447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Committed capacity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30752"/>
            <a:ext cx="3063240" cy="749808"/>
          </a:xfrm>
          <a:prstGeom prst="roundRect">
            <a:avLst/>
          </a:prstGeom>
          <a:solidFill>
            <a:srgbClr val="111F34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858768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COURT ×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30384" y="3831336"/>
            <a:ext cx="14447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Each row maps a court to its schedule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4681728"/>
            <a:ext cx="3063240" cy="749808"/>
          </a:xfrm>
          <a:prstGeom prst="roundRect">
            <a:avLst/>
          </a:prstGeom>
          <a:solidFill>
            <a:srgbClr val="111F34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4809744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FAST SCANNING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384" y="4782312"/>
            <a:ext cx="14447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Dense information without losing status clarity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SHARED SOURCE OF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One reservation state. Different jobs-to-be-done.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A member booking becomes an operational commitment visible to the front desk — without duplicating business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4983480" cy="361188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198424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88819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965960"/>
            <a:ext cx="4069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MEMBER  •  “I booked this slot.”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350008"/>
            <a:ext cx="3995928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My Bookings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Tennis Court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82112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Mon, 24 Aug,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511296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10:45 AM – 11:45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Booking ID  #23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788920"/>
            <a:ext cx="731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2788920"/>
            <a:ext cx="685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3218688"/>
            <a:ext cx="548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19088" y="1783080"/>
            <a:ext cx="5193792" cy="361188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0255" y="198424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5" y="1988819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965960"/>
            <a:ext cx="427939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FRONT DESK  •  “This slot is booked.”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350008"/>
            <a:ext cx="4206240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Court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Tennis Court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7889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10:45 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8" y="2788920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BOOKED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50215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badminton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5021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9:00 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350215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FREE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215383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BasketBall court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215383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8:00 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4215383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BOOKED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6432" y="566928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Same state. Different job-to-be-done.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CLUBDASH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ClubDash AI: a controlled conversational layer over live club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assistant reduces navigation friction while preserving the existing REST/API, authorization and service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USER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39696"/>
            <a:ext cx="37490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“What are my upcoming bookings?”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651760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53512"/>
            <a:ext cx="3886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POST  /api/v1/assistant/chat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310128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9312"/>
            <a:ext cx="3200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ROLE-AWARE TOOL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986784"/>
            <a:ext cx="320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32511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LIVE CLUB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PHASE 1  /  READ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148840"/>
            <a:ext cx="2359152" cy="1243584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47688" y="2350008"/>
            <a:ext cx="384048" cy="38404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35458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9752" y="2331720"/>
            <a:ext cx="14447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MEMBER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715768"/>
            <a:ext cx="13715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get_my_bookings • get_events • get_availability</a:t>
            </a:r>
            <a:br/>
            <a:r>
              <a:rPr>
                <a:latin typeface="Aptos"/>
              </a:rPr>
              <a:t>get_my_membership • get_club_information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148840"/>
            <a:ext cx="2359152" cy="1243584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08008" y="2350008"/>
            <a:ext cx="384048" cy="3840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8008" y="2354580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0072" y="2331720"/>
            <a:ext cx="14447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STAFF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20072" y="271576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get_staff_dashboard • get_staff_bookings</a:t>
            </a:r>
            <a:br/>
            <a:r>
              <a:rPr>
                <a:latin typeface="Aptos"/>
              </a:rPr>
              <a:t>get_staff_attendance • get_court_status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3630168"/>
            <a:ext cx="2359152" cy="1243584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47688" y="3831336"/>
            <a:ext cx="384048" cy="384048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7688" y="38359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3813048"/>
            <a:ext cx="144475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4197096"/>
            <a:ext cx="13715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OpenAI Responses API</a:t>
            </a:r>
            <a:br/>
            <a:r>
              <a:rPr>
                <a:latin typeface="Aptos"/>
              </a:rPr>
              <a:t>Server-side client • tool calling • multi-turn state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630168"/>
            <a:ext cx="2359152" cy="1243584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08008" y="3831336"/>
            <a:ext cx="384048" cy="38404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08008" y="3835908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0072" y="3813048"/>
            <a:ext cx="14447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0072" y="4197096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JWT authentication • backend authorization</a:t>
            </a:r>
            <a:br/>
            <a:r>
              <a:rPr>
                <a:latin typeface="Aptos"/>
              </a:rPr>
              <a:t>OpenAI key never exposed to Vue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5230368"/>
            <a:ext cx="5148072" cy="658368"/>
          </a:xfrm>
          <a:prstGeom prst="roundRect">
            <a:avLst/>
          </a:prstGeom>
          <a:solidFill>
            <a:srgbClr val="271831"/>
          </a:solidFill>
          <a:ln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56832" y="5431536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NO DIRECT DATABASE ACCESS  •  NO WRITE TOOLS IN PHASE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AI ARCHITECTURE &amp;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AI is an application layer — not a privileged shortcut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model selects only approved server-side functions; the Flask backend executes them through existing ClubDash services.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2057400" cy="914400"/>
          </a:xfrm>
          <a:prstGeom prst="roundRect">
            <a:avLst/>
          </a:prstGeom>
          <a:solidFill>
            <a:srgbClr val="111F34"/>
          </a:solidFill>
          <a:ln w="1397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84832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VUE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9572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Assistant Widget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1920240"/>
            <a:ext cx="2057400" cy="914400"/>
          </a:xfrm>
          <a:prstGeom prst="roundRect">
            <a:avLst/>
          </a:prstGeom>
          <a:solidFill>
            <a:srgbClr val="111F34"/>
          </a:solidFill>
          <a:ln w="1397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72968" y="2084832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239572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Assistant Controller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1920240"/>
            <a:ext cx="2057400" cy="914400"/>
          </a:xfrm>
          <a:prstGeom prst="roundRect">
            <a:avLst/>
          </a:prstGeom>
          <a:solidFill>
            <a:srgbClr val="111F34"/>
          </a:solidFill>
          <a:ln w="13970"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084832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239572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Assistant 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09560" y="1920240"/>
            <a:ext cx="2057400" cy="914400"/>
          </a:xfrm>
          <a:prstGeom prst="roundRect">
            <a:avLst/>
          </a:prstGeom>
          <a:solidFill>
            <a:srgbClr val="111F34"/>
          </a:solidFill>
          <a:ln w="1397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2084832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B923C"/>
                </a:solidFill>
                <a:latin typeface="Aptos"/>
              </a:defRPr>
            </a:pPr>
            <a:r>
              <a:rPr>
                <a:latin typeface="Aptos"/>
              </a:rPr>
              <a:t>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239572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Responses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703320"/>
            <a:ext cx="2057400" cy="914400"/>
          </a:xfrm>
          <a:prstGeom prst="roundRect">
            <a:avLst/>
          </a:prstGeom>
          <a:solidFill>
            <a:srgbClr val="111F34"/>
          </a:solidFill>
          <a:ln w="1397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3867911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96128" y="417880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Restricted Registry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703320"/>
            <a:ext cx="2057400" cy="914400"/>
          </a:xfrm>
          <a:prstGeom prst="roundRect">
            <a:avLst/>
          </a:prstGeom>
          <a:solidFill>
            <a:srgbClr val="111F34"/>
          </a:solidFill>
          <a:ln w="1397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3867911"/>
            <a:ext cx="183794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CLUBDASH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9288" y="4178808"/>
            <a:ext cx="1837943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Services /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2221991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221991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221991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260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2926080"/>
            <a:ext cx="274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0690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010912"/>
            <a:ext cx="10927080" cy="777240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7" y="5212080"/>
            <a:ext cx="384048" cy="384048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216652"/>
            <a:ext cx="384048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3312" y="5193792"/>
            <a:ext cx="10012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SECURITY / CONTROL BOUNDARY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3312" y="5577840"/>
            <a:ext cx="9939528" cy="82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JWT user + role → approved tools only → existing services → live data. Browser cannot grant itself staff access; OpenAI API key remains server-side.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CAPABILITY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Where each product capability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Role separation is explicit, and the current AI scope is deliberately read-only.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282696" cy="502920"/>
          </a:xfrm>
          <a:prstGeom prst="roundRect">
            <a:avLst/>
          </a:prstGeom>
          <a:solidFill>
            <a:srgbClr val="162740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929384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4487" y="1783080"/>
            <a:ext cx="1271016" cy="502920"/>
          </a:xfrm>
          <a:prstGeom prst="roundRect">
            <a:avLst/>
          </a:prstGeom>
          <a:solidFill>
            <a:srgbClr val="162740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14215" y="1929384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MEMBER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0368" y="1783080"/>
            <a:ext cx="1453895" cy="502920"/>
          </a:xfrm>
          <a:prstGeom prst="roundRect">
            <a:avLst/>
          </a:prstGeom>
          <a:solidFill>
            <a:srgbClr val="162740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1929384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FRONT DESK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9128" y="1783080"/>
            <a:ext cx="1819655" cy="502920"/>
          </a:xfrm>
          <a:prstGeom prst="roundRect">
            <a:avLst/>
          </a:prstGeom>
          <a:solidFill>
            <a:srgbClr val="162740"/>
          </a:solidFill>
          <a:ln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48856" y="1929384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AI — PHASE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377440"/>
            <a:ext cx="328269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505456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Court booking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04487" y="2377440"/>
            <a:ext cx="127101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14215" y="250545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0368" y="2377440"/>
            <a:ext cx="145389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505456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9128" y="2377440"/>
            <a:ext cx="181965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8856" y="2505456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880360"/>
            <a:ext cx="328269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008376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Live availability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04487" y="2880360"/>
            <a:ext cx="127101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14215" y="300837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0368" y="2880360"/>
            <a:ext cx="145389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3008376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39128" y="2880360"/>
            <a:ext cx="181965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48856" y="3008376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383280"/>
            <a:ext cx="328269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511296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Nearby clubs + route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04487" y="3383280"/>
            <a:ext cx="127101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14215" y="351129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0368" y="3383280"/>
            <a:ext cx="145389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0096" y="3511296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39128" y="3383280"/>
            <a:ext cx="181965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48856" y="3511296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facility discovery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886200"/>
            <a:ext cx="328269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" y="4014215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My bookings / release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04487" y="3886200"/>
            <a:ext cx="127101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14215" y="4014215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30368" y="3886200"/>
            <a:ext cx="145389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6" y="4014215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39128" y="3886200"/>
            <a:ext cx="181965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48856" y="4014215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389120"/>
            <a:ext cx="328269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4517136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Events / registration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04487" y="4389120"/>
            <a:ext cx="127101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14215" y="451713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30368" y="4389120"/>
            <a:ext cx="145389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0096" y="4517136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39128" y="4389120"/>
            <a:ext cx="181965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48856" y="4517136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892040"/>
            <a:ext cx="328269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" y="5020055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Membership information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04487" y="4892040"/>
            <a:ext cx="127101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14215" y="5020055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30368" y="4892040"/>
            <a:ext cx="145389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0096" y="5020055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39128" y="4892040"/>
            <a:ext cx="181965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48856" y="5020055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394960"/>
            <a:ext cx="328269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" y="5522976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Attendance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04487" y="5394960"/>
            <a:ext cx="1271016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14215" y="552297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30368" y="5394960"/>
            <a:ext cx="145389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40096" y="5522976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9128" y="5394960"/>
            <a:ext cx="1819655" cy="457200"/>
          </a:xfrm>
          <a:prstGeom prst="rect">
            <a:avLst/>
          </a:prstGeom>
          <a:solidFill>
            <a:srgbClr val="0D192C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48856" y="5522976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5897880"/>
            <a:ext cx="328269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6656" y="6025896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Court status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04487" y="5897880"/>
            <a:ext cx="1271016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14215" y="602589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30368" y="5897880"/>
            <a:ext cx="145389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0096" y="6025896"/>
            <a:ext cx="123443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9128" y="5897880"/>
            <a:ext cx="1819655" cy="457200"/>
          </a:xfrm>
          <a:prstGeom prst="rect">
            <a:avLst/>
          </a:prstGeom>
          <a:solidFill>
            <a:srgbClr val="111F34"/>
          </a:solidFill>
          <a:ln w="508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48856" y="6025896"/>
            <a:ext cx="160019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66928" y="5669280"/>
            <a:ext cx="10972800" cy="512064"/>
          </a:xfrm>
          <a:prstGeom prst="roundRect">
            <a:avLst/>
          </a:prstGeom>
          <a:solidFill>
            <a:srgbClr val="271831"/>
          </a:solidFill>
          <a:ln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" y="5824728"/>
            <a:ext cx="10515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PHASE 1 AI BOUNDARY  •  No create booking, cancellation, reschedule, event registration, check-in/out or membership/club edits.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DEMO NARRATIVE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Present ClubDash as one continuous user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strongest demonstration connects discovery, booking, operations and conversational assistance instead of showing isolated screens.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965960"/>
            <a:ext cx="1627632" cy="1965960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17627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6060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035808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Landing →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270662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2304" y="1965960"/>
            <a:ext cx="1627632" cy="1965960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217627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7752" y="26060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ORIENT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87752" y="3035808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Dashboard → next booking + notices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70662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965960"/>
            <a:ext cx="1627632" cy="1965960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217627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26060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035808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Book a Court → select slot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6" y="270662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1965960"/>
            <a:ext cx="1627632" cy="1965960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217627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6060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DISCOVER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035808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Nearby Courts → venue + route + courts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9832" y="270662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28431" y="1965960"/>
            <a:ext cx="1627632" cy="1965960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17627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26060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MANAGE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3035808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My Bookings → details / release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5208" y="2706624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93807" y="1965960"/>
            <a:ext cx="1627632" cy="1965960"/>
          </a:xfrm>
          <a:prstGeom prst="roundRect">
            <a:avLst/>
          </a:prstGeom>
          <a:solidFill>
            <a:srgbClr val="111F34"/>
          </a:solidFill>
          <a:ln w="12700">
            <a:solidFill>
              <a:srgbClr val="6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9255" y="2176272"/>
            <a:ext cx="3840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9255" y="2606040"/>
            <a:ext cx="1280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ASSIST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9255" y="3035808"/>
            <a:ext cx="1280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AI Concierge → live information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590288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LIVE DEMO ORDER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91947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 → verify in My Bookings → switch to Front Desk → show the slot as BOOKED → ask ClubDash AI for live information.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ENGINEERING &amp; PRODUCT STRENGTHS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rPr>
                <a:latin typeface="Aptos"/>
              </a:rPr>
              <a:t>The value is in the integration between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7863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strongest part of ClubDash is not one screen — it is the connection between booking state, operations, discovery and conversational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47088"/>
            <a:ext cx="3401568" cy="14813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02996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01168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ROLE-AWARE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50592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Member and front-desk views solve different operational jobs.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847088"/>
            <a:ext cx="3401568" cy="14813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02996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01168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SHARED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450592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Bookings and availability stay consistent across experiences.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73567" y="1847088"/>
            <a:ext cx="3401568" cy="14813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7" y="202996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01168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REAL LOCATION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7" y="2450592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Nearby Courts adds geolocation and road routing to discovery.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21608"/>
            <a:ext cx="3401568" cy="14813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90448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B923C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5" y="388620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CONTROLLED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325112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Server-side tools and read-only Phase 1 preserve the security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3721608"/>
            <a:ext cx="3401568" cy="14813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90448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4D399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388620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MODULAR 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4325112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Domain boundaries create a maintainable evolution path.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7" y="3721608"/>
            <a:ext cx="3401568" cy="1481328"/>
          </a:xfrm>
          <a:prstGeom prst="roundRect">
            <a:avLst/>
          </a:prstGeom>
          <a:solidFill>
            <a:srgbClr val="111F34"/>
          </a:solidFill>
          <a:ln w="10160">
            <a:solidFill>
              <a:srgbClr val="2C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7" y="3904488"/>
            <a:ext cx="3474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Aptos"/>
              </a:defRPr>
            </a:pPr>
            <a:r>
              <a:rPr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1936" y="388620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2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DEMO-READY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7" y="4325112"/>
            <a:ext cx="2926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The product can be demonstrated end-to-end from login to AI.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65099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PRODUCT 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5577840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   →   MANAGE   →   DISCOVER   →   ASSIST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-1371600"/>
            <a:ext cx="4114800" cy="4114800"/>
          </a:xfrm>
          <a:prstGeom prst="ellipse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5303520"/>
            <a:ext cx="3108960" cy="3108960"/>
          </a:xfrm>
          <a:prstGeom prst="ellipse">
            <a:avLst/>
          </a:prstGeom>
          <a:solidFill>
            <a:srgbClr val="10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CLUBDASH   /   CLOSING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5216"/>
            <a:ext cx="502920" cy="22860"/>
          </a:xfrm>
          <a:prstGeom prst="rect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246888"/>
            <a:ext cx="411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98755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CLUBDASH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576072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 courts.</a:t>
            </a:r>
            <a:br/>
            <a:r>
              <a:rPr>
                <a:latin typeface="Aptos"/>
              </a:rPr>
              <a:t>Run the club.</a:t>
            </a:r>
            <a:br/>
            <a:r>
              <a:rPr>
                <a:latin typeface="Aptos"/>
              </a:rPr>
              <a:t>Assist every member.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22191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One connected platform for member self-service,</a:t>
            </a:r>
            <a:br/>
            <a:r>
              <a:rPr>
                <a:latin typeface="Aptos"/>
              </a:rPr>
              <a:t>front-desk visibility, location-aware discovery and ClubDash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9560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3B82F6"/>
                </a:solidFill>
                <a:latin typeface="Aptos"/>
              </a:defRPr>
            </a:pPr>
            <a:r>
              <a:rPr>
                <a:latin typeface="Aptos"/>
              </a:rPr>
              <a:t>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52852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Court reservations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49560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ptos"/>
              </a:defRPr>
            </a:pPr>
            <a:r>
              <a:rPr>
                <a:latin typeface="Aptos"/>
              </a:rPr>
              <a:t>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8416" y="52852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Front-desk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9560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2852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Nearby courts +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3" y="4956048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B923C"/>
                </a:solidFill>
                <a:latin typeface="Aptos"/>
              </a:defRPr>
            </a:pPr>
            <a:r>
              <a:rPr>
                <a:latin typeface="Aptos"/>
              </a:rPr>
              <a:t>ASSIST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1663" y="52852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Role-aware AI</a:t>
            </a:r>
          </a:p>
        </p:txBody>
      </p:sp>
      <p:sp>
        <p:nvSpPr>
          <p:cNvPr id="19" name="Oval 18"/>
          <p:cNvSpPr/>
          <p:nvPr/>
        </p:nvSpPr>
        <p:spPr>
          <a:xfrm>
            <a:off x="8458200" y="1828800"/>
            <a:ext cx="868680" cy="8686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13969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BOOK</a:t>
            </a:r>
          </a:p>
        </p:txBody>
      </p:sp>
      <p:sp>
        <p:nvSpPr>
          <p:cNvPr id="21" name="Oval 20"/>
          <p:cNvSpPr/>
          <p:nvPr/>
        </p:nvSpPr>
        <p:spPr>
          <a:xfrm>
            <a:off x="10195560" y="2743200"/>
            <a:ext cx="868680" cy="8686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305409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OPERATE</a:t>
            </a:r>
          </a:p>
        </p:txBody>
      </p:sp>
      <p:sp>
        <p:nvSpPr>
          <p:cNvPr id="23" name="Oval 22"/>
          <p:cNvSpPr/>
          <p:nvPr/>
        </p:nvSpPr>
        <p:spPr>
          <a:xfrm>
            <a:off x="8549640" y="4069080"/>
            <a:ext cx="868680" cy="868680"/>
          </a:xfrm>
          <a:prstGeom prst="ellipse">
            <a:avLst/>
          </a:prstGeom>
          <a:solidFill>
            <a:srgbClr val="6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437997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DISCOVER</a:t>
            </a:r>
          </a:p>
        </p:txBody>
      </p:sp>
      <p:sp>
        <p:nvSpPr>
          <p:cNvPr id="25" name="Oval 24"/>
          <p:cNvSpPr/>
          <p:nvPr/>
        </p:nvSpPr>
        <p:spPr>
          <a:xfrm>
            <a:off x="10222992" y="4892040"/>
            <a:ext cx="868680" cy="8686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31552" y="5202936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1">
                <a:solidFill>
                  <a:srgbClr val="F8FAFC"/>
                </a:solidFill>
                <a:latin typeface="Aptos"/>
              </a:defRPr>
            </a:pPr>
            <a:r>
              <a:rPr>
                <a:latin typeface="Aptos"/>
              </a:rPr>
              <a:t>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87968" y="2624328"/>
            <a:ext cx="1353311" cy="22860"/>
          </a:xfrm>
          <a:prstGeom prst="rect">
            <a:avLst/>
          </a:prstGeom>
          <a:solidFill>
            <a:srgbClr val="2C3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79408" y="3840480"/>
            <a:ext cx="1261871" cy="22860"/>
          </a:xfrm>
          <a:prstGeom prst="rect">
            <a:avLst/>
          </a:prstGeom>
          <a:solidFill>
            <a:srgbClr val="2C3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4663440"/>
            <a:ext cx="822959" cy="22860"/>
          </a:xfrm>
          <a:prstGeom prst="rect">
            <a:avLst/>
          </a:prstGeom>
          <a:solidFill>
            <a:srgbClr val="2C3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17220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A4B1C7"/>
                </a:solidFill>
                <a:latin typeface="Aptos"/>
              </a:defRPr>
            </a:pPr>
            <a:r>
              <a:rPr>
                <a:latin typeface="Aptos"/>
              </a:rPr>
              <a:t>SOFTWARE ENGINEERING PROJECT  • 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1722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C5CFF"/>
                </a:solidFill>
                <a:latin typeface="Aptos"/>
              </a:defRPr>
            </a:pPr>
            <a:r>
              <a:rPr>
                <a:latin typeface="Aptos"/>
              </a:rPr>
              <a:t>ClubDash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