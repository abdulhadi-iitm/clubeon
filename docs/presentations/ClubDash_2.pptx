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8"/>
          </a:solidFill>
          <a:ln>
            <a:solidFill>
              <a:srgbClr val="09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37960" y="0"/>
            <a:ext cx="5650992" cy="6858000"/>
          </a:xfrm>
          <a:prstGeom prst="roundRect">
            <a:avLst>
              <a:gd name="adj" fmla="val 8000"/>
            </a:avLst>
          </a:prstGeom>
          <a:solidFill>
            <a:srgbClr val="090C18"/>
          </a:solidFill>
          <a:ln>
            <a:solidFill>
              <a:srgbClr val="09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hot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095719"/>
            <a:ext cx="5650992" cy="266656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6903720" cy="6858000"/>
          </a:xfrm>
          <a:prstGeom prst="rect">
            <a:avLst/>
          </a:prstGeom>
          <a:solidFill>
            <a:srgbClr val="090C18"/>
          </a:solidFill>
          <a:ln>
            <a:solidFill>
              <a:srgbClr val="09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566928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087FF"/>
                </a:solidFill>
                <a:latin typeface="Aptos"/>
              </a:rPr>
              <a:t>SOFTWARE ENGINEERING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07008"/>
            <a:ext cx="5394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5F7FF"/>
                </a:solidFill>
                <a:latin typeface="Aptos"/>
              </a:rPr>
              <a:t>ClubDash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65960"/>
            <a:ext cx="52120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5F7FF"/>
                </a:solidFill>
                <a:latin typeface="Aptos"/>
              </a:rPr>
              <a:t>Sports Facility Booking
&amp; Club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5074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7B0C9"/>
                </a:solidFill>
                <a:latin typeface="Aptos"/>
              </a:rPr>
              <a:t>From stakeholder research to one connected platform for members, staff and administrators.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251960"/>
            <a:ext cx="2880360" cy="310896"/>
          </a:xfrm>
          <a:prstGeom prst="roundRect">
            <a:avLst>
              <a:gd name="adj" fmla="val 8000"/>
            </a:avLst>
          </a:prstGeom>
          <a:solidFill>
            <a:srgbClr val="181E33"/>
          </a:solidFill>
          <a:ln>
            <a:solidFill>
              <a:srgbClr val="7A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4297680"/>
            <a:ext cx="27340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7A5CFF"/>
                </a:solidFill>
                <a:latin typeface="Aptos"/>
              </a:rPr>
              <a:t>SITUATION → TASK → ACTION →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681728"/>
            <a:ext cx="1097280" cy="310896"/>
          </a:xfrm>
          <a:prstGeom prst="roundRect">
            <a:avLst>
              <a:gd name="adj" fmla="val 8000"/>
            </a:avLst>
          </a:prstGeom>
          <a:solidFill>
            <a:srgbClr val="181E33"/>
          </a:solidFill>
          <a:ln>
            <a:solidFill>
              <a:srgbClr val="4F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" y="4727448"/>
            <a:ext cx="9509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4FC6FF"/>
                </a:solidFill>
                <a:latin typeface="Aptos"/>
              </a:rPr>
              <a:t>TEAM 096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25780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Member • Front Desk • Admin • ClubDash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92531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7B0C9"/>
                </a:solidFill>
                <a:latin typeface="Aptos"/>
              </a:rPr>
              <a:t>Final Video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8"/>
          </a:solidFill>
          <a:ln>
            <a:solidFill>
              <a:srgbClr val="09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772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087FF"/>
                </a:solidFill>
                <a:latin typeface="Aptos"/>
              </a:rPr>
              <a:t>01 / STAR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7FF"/>
                </a:solidFill>
                <a:latin typeface="Aptos"/>
              </a:rPr>
              <a:t>The story behind ClubDash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7B0C9"/>
                </a:solidFill>
                <a:latin typeface="Aptos"/>
              </a:rPr>
              <a:t>Start with the problem, then show how research became the product.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7B0C9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2560320" cy="228600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64008" cy="2286000"/>
          </a:xfrm>
          <a:prstGeom prst="roundRect">
            <a:avLst>
              <a:gd name="adj" fmla="val 8000"/>
            </a:avLst>
          </a:prstGeom>
          <a:solidFill>
            <a:srgbClr val="7A5CFF"/>
          </a:solidFill>
          <a:ln>
            <a:solidFill>
              <a:srgbClr val="7A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7568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A5CFF"/>
                </a:solidFill>
                <a:latin typeface="Aptos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039112"/>
            <a:ext cx="16459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F"/>
                </a:solidFill>
                <a:latin typeface="Aptos"/>
              </a:rPr>
              <a:t>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532887"/>
            <a:ext cx="1645919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0C9"/>
                </a:solidFill>
                <a:latin typeface="Aptos"/>
              </a:rPr>
              <a:t>Sports clubs often manage bookings, availability and communication through phone calls, WhatsApp and spreadsheets.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874519"/>
            <a:ext cx="2560320" cy="228600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56432" y="1874519"/>
            <a:ext cx="64008" cy="2286000"/>
          </a:xfrm>
          <a:prstGeom prst="roundRect">
            <a:avLst>
              <a:gd name="adj" fmla="val 8000"/>
            </a:avLst>
          </a:prstGeom>
          <a:solidFill>
            <a:srgbClr val="4FC6FF"/>
          </a:solidFill>
          <a:ln>
            <a:solidFill>
              <a:srgbClr val="4F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5032" y="207568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C6FF"/>
                </a:solidFill>
                <a:latin typeface="Aptos"/>
              </a:rPr>
              <a:t>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42232" y="2039112"/>
            <a:ext cx="16459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F"/>
                </a:solidFill>
                <a:latin typeface="Aptos"/>
              </a:rPr>
              <a:t>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2232" y="2532887"/>
            <a:ext cx="1645919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0C9"/>
                </a:solidFill>
                <a:latin typeface="Aptos"/>
              </a:rPr>
              <a:t>Create one centralized system that makes booking easier and gives staff and administrators a reliable operational 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1874519"/>
            <a:ext cx="2560320" cy="228600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72784" y="1874519"/>
            <a:ext cx="64008" cy="2286000"/>
          </a:xfrm>
          <a:prstGeom prst="roundRect">
            <a:avLst>
              <a:gd name="adj" fmla="val 8000"/>
            </a:avLst>
          </a:prstGeom>
          <a:solidFill>
            <a:srgbClr val="54D297"/>
          </a:solidFill>
          <a:ln>
            <a:solidFill>
              <a:srgbClr val="54D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1384" y="207568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4D297"/>
                </a:solidFill>
                <a:latin typeface="Aptos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039112"/>
            <a:ext cx="16459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F"/>
                </a:solidFill>
                <a:latin typeface="Aptos"/>
              </a:rPr>
              <a:t>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8584" y="2532887"/>
            <a:ext cx="1645919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0C9"/>
                </a:solidFill>
                <a:latin typeface="Aptos"/>
              </a:rPr>
              <a:t>Interview stakeholders, derive user stories and build role-based workflows around shared club 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9136" y="1874519"/>
            <a:ext cx="2560320" cy="228600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89136" y="1874519"/>
            <a:ext cx="64008" cy="2286000"/>
          </a:xfrm>
          <a:prstGeom prst="roundRect">
            <a:avLst>
              <a:gd name="adj" fmla="val 8000"/>
            </a:avLst>
          </a:prstGeom>
          <a:solidFill>
            <a:srgbClr val="A087FF"/>
          </a:solidFill>
          <a:ln>
            <a:solidFill>
              <a:srgbClr val="A0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17736" y="207568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087FF"/>
                </a:solidFill>
                <a:latin typeface="Aptos"/>
              </a:rPr>
              <a:t>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74936" y="2039112"/>
            <a:ext cx="16459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F"/>
                </a:solidFill>
                <a:latin typeface="Aptos"/>
              </a:rPr>
              <a:t>RESULT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4936" y="2532887"/>
            <a:ext cx="1645919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0C9"/>
                </a:solidFill>
                <a:latin typeface="Aptos"/>
              </a:rPr>
              <a:t>Connect discovery, booking, reservations and club operations in one platform.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4892040"/>
            <a:ext cx="1998878" cy="475488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010912"/>
            <a:ext cx="190743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67558" y="5001768"/>
            <a:ext cx="1188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A087FF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86430" y="4892040"/>
            <a:ext cx="1998878" cy="475488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32150" y="5010912"/>
            <a:ext cx="190743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Research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5308" y="5001768"/>
            <a:ext cx="1188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A087FF"/>
                </a:solidFill>
                <a:latin typeface="Aptos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04180" y="4892040"/>
            <a:ext cx="1998878" cy="475488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49900" y="5010912"/>
            <a:ext cx="190743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Requirements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03059" y="5001768"/>
            <a:ext cx="1188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A087FF"/>
                </a:solidFill>
                <a:latin typeface="Aptos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21931" y="4892040"/>
            <a:ext cx="1998878" cy="475488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67651" y="5010912"/>
            <a:ext cx="190743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Implementation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20809" y="5001768"/>
            <a:ext cx="1188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A087FF"/>
                </a:solidFill>
                <a:latin typeface="Aptos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39681" y="4892040"/>
            <a:ext cx="1998878" cy="475488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85401" y="5010912"/>
            <a:ext cx="190743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Working product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47104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7B0C9"/>
                </a:solidFill>
                <a:latin typeface="Aptos"/>
              </a:rPr>
              <a:t>CLUBDASH  •  TEAM 096  •  2026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75520" y="6583680"/>
            <a:ext cx="1691640" cy="32004"/>
          </a:xfrm>
          <a:prstGeom prst="rect">
            <a:avLst/>
          </a:prstGeom>
          <a:solidFill>
            <a:srgbClr val="181E33"/>
          </a:solidFill>
          <a:ln>
            <a:solidFill>
              <a:srgbClr val="18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8"/>
          </a:solidFill>
          <a:ln>
            <a:solidFill>
              <a:srgbClr val="09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772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087FF"/>
                </a:solidFill>
                <a:latin typeface="Aptos"/>
              </a:rPr>
              <a:t>02 /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7FF"/>
                </a:solidFill>
                <a:latin typeface="Aptos"/>
              </a:rPr>
              <a:t>We started with stakeholders, not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7B0C9"/>
                </a:solidFill>
                <a:latin typeface="Aptos"/>
              </a:rPr>
              <a:t>Six interviews helped us understand how the club was actually being used.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7B0C9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194560" cy="342900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645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A087FF"/>
                </a:solidFill>
                <a:latin typeface="Aptos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1737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F7FF"/>
                </a:solidFill>
                <a:latin typeface="Aptos"/>
              </a:rPr>
              <a:t>stakeholder
interviews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69080"/>
            <a:ext cx="1737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7B0C9"/>
                </a:solidFill>
                <a:latin typeface="Aptos"/>
              </a:rPr>
              <a:t>5 Permanent Members
1 Front Desk Executive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1828800"/>
            <a:ext cx="3840480" cy="15087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54680" y="1828800"/>
            <a:ext cx="64008" cy="1508760"/>
          </a:xfrm>
          <a:prstGeom prst="roundRect">
            <a:avLst>
              <a:gd name="adj" fmla="val 8000"/>
            </a:avLst>
          </a:prstGeom>
          <a:solidFill>
            <a:srgbClr val="7A5CFF"/>
          </a:solidFill>
          <a:ln>
            <a:solidFill>
              <a:srgbClr val="7A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202996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A5CFF"/>
                </a:solidFill>
                <a:latin typeface="Aptos"/>
              </a:rPr>
              <a:t>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1993392"/>
            <a:ext cx="2926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F"/>
                </a:solidFill>
                <a:latin typeface="Aptos"/>
              </a:rPr>
              <a:t>PRIMARY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487168"/>
            <a:ext cx="2926080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0C9"/>
                </a:solidFill>
                <a:latin typeface="Aptos"/>
              </a:rPr>
              <a:t>Permanent members and casual players use the system to discover, book and manage facilities.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78040" y="1828800"/>
            <a:ext cx="4343400" cy="15087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78040" y="1828800"/>
            <a:ext cx="64008" cy="1508760"/>
          </a:xfrm>
          <a:prstGeom prst="roundRect">
            <a:avLst>
              <a:gd name="adj" fmla="val 8000"/>
            </a:avLst>
          </a:prstGeom>
          <a:solidFill>
            <a:srgbClr val="4FC6FF"/>
          </a:solidFill>
          <a:ln>
            <a:solidFill>
              <a:srgbClr val="4F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202996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C6FF"/>
                </a:solidFill>
                <a:latin typeface="Aptos"/>
              </a:rPr>
              <a:t>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1993392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F"/>
                </a:solidFill>
                <a:latin typeface="Aptos"/>
              </a:rPr>
              <a:t>OPERATIONAL 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487168"/>
            <a:ext cx="3429000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0C9"/>
                </a:solidFill>
                <a:latin typeface="Aptos"/>
              </a:rPr>
              <a:t>Front-desk staff need booking, availability and attendance visibility.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54680" y="3566160"/>
            <a:ext cx="3840480" cy="15087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154680" y="3566160"/>
            <a:ext cx="64008" cy="1508760"/>
          </a:xfrm>
          <a:prstGeom prst="roundRect">
            <a:avLst>
              <a:gd name="adj" fmla="val 8000"/>
            </a:avLst>
          </a:prstGeom>
          <a:solidFill>
            <a:srgbClr val="54D297"/>
          </a:solidFill>
          <a:ln>
            <a:solidFill>
              <a:srgbClr val="54D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76732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4D297"/>
                </a:solidFill>
                <a:latin typeface="Aptos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3730752"/>
            <a:ext cx="2926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F"/>
                </a:solidFill>
                <a:latin typeface="Aptos"/>
              </a:rPr>
              <a:t>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224528"/>
            <a:ext cx="2926080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0C9"/>
                </a:solidFill>
                <a:latin typeface="Aptos"/>
              </a:rPr>
              <a:t>Administrators need centralized management and operational visibility.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78040" y="3566160"/>
            <a:ext cx="4343400" cy="15087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78040" y="3566160"/>
            <a:ext cx="64008" cy="1508760"/>
          </a:xfrm>
          <a:prstGeom prst="roundRect">
            <a:avLst>
              <a:gd name="adj" fmla="val 8000"/>
            </a:avLst>
          </a:prstGeom>
          <a:solidFill>
            <a:srgbClr val="A087FF"/>
          </a:solidFill>
          <a:ln>
            <a:solidFill>
              <a:srgbClr val="A0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376732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087FF"/>
                </a:solidFill>
                <a:latin typeface="Aptos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730752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F"/>
                </a:solidFill>
                <a:latin typeface="Aptos"/>
              </a:rPr>
              <a:t>METHOD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224528"/>
            <a:ext cx="3429000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0C9"/>
                </a:solidFill>
                <a:latin typeface="Aptos"/>
              </a:rPr>
              <a:t>Semi-structured interviews focused on the existing process and pain points.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54680" y="5440680"/>
            <a:ext cx="8229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F"/>
                </a:solidFill>
                <a:latin typeface="Aptos"/>
              </a:rPr>
              <a:t>Key principle: features were derived from research rather than assumed from the UI.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47104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7B0C9"/>
                </a:solidFill>
                <a:latin typeface="Aptos"/>
              </a:rPr>
              <a:t>CLUBDASH  •  TEAM 096  •  2026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75520" y="6583680"/>
            <a:ext cx="1691640" cy="32004"/>
          </a:xfrm>
          <a:prstGeom prst="rect">
            <a:avLst/>
          </a:prstGeom>
          <a:solidFill>
            <a:srgbClr val="181E33"/>
          </a:solidFill>
          <a:ln>
            <a:solidFill>
              <a:srgbClr val="18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8"/>
          </a:solidFill>
          <a:ln>
            <a:solidFill>
              <a:srgbClr val="09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772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087FF"/>
                </a:solidFill>
                <a:latin typeface="Aptos"/>
              </a:rPr>
              <a:t>03 / PAIN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7FF"/>
                </a:solidFill>
                <a:latin typeface="Aptos"/>
              </a:rPr>
              <a:t>Five recurring problems shaped the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7B0C9"/>
                </a:solidFill>
                <a:latin typeface="Aptos"/>
              </a:rPr>
              <a:t>These are the reasons the product exists.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7B0C9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257800" cy="1170432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4008" cy="1170432"/>
          </a:xfrm>
          <a:prstGeom prst="roundRect">
            <a:avLst>
              <a:gd name="adj" fmla="val 8000"/>
            </a:avLst>
          </a:prstGeom>
          <a:solidFill>
            <a:srgbClr val="7A5CFF"/>
          </a:solidFill>
          <a:ln>
            <a:solidFill>
              <a:srgbClr val="7A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8424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A5C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47672"/>
            <a:ext cx="4343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F"/>
                </a:solidFill>
                <a:latin typeface="Aptos"/>
              </a:rPr>
              <a:t>Fragmented booking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441448"/>
            <a:ext cx="4343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0C9"/>
                </a:solidFill>
                <a:latin typeface="Aptos"/>
              </a:rPr>
              <a:t>Phone calls and WhatsApp make reservations harder to control.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5257800" cy="1170432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783080"/>
            <a:ext cx="64008" cy="1170432"/>
          </a:xfrm>
          <a:prstGeom prst="roundRect">
            <a:avLst>
              <a:gd name="adj" fmla="val 8000"/>
            </a:avLst>
          </a:prstGeom>
          <a:solidFill>
            <a:srgbClr val="4FC6FF"/>
          </a:solidFill>
          <a:ln>
            <a:solidFill>
              <a:srgbClr val="4F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98424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C6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947672"/>
            <a:ext cx="4343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F"/>
                </a:solidFill>
                <a:latin typeface="Aptos"/>
              </a:rPr>
              <a:t>Manual scheduling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441448"/>
            <a:ext cx="4343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0C9"/>
                </a:solidFill>
                <a:latin typeface="Aptos"/>
              </a:rPr>
              <a:t>Staff spend time checking and updating schedules.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00400"/>
            <a:ext cx="5257800" cy="1170432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200400"/>
            <a:ext cx="64008" cy="1170432"/>
          </a:xfrm>
          <a:prstGeom prst="roundRect">
            <a:avLst>
              <a:gd name="adj" fmla="val 8000"/>
            </a:avLst>
          </a:prstGeom>
          <a:solidFill>
            <a:srgbClr val="54D297"/>
          </a:solidFill>
          <a:ln>
            <a:solidFill>
              <a:srgbClr val="54D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40156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4D297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364992"/>
            <a:ext cx="4343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F"/>
                </a:solidFill>
                <a:latin typeface="Aptos"/>
              </a:rPr>
              <a:t>Peak-hour congestion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858768"/>
            <a:ext cx="4343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0C9"/>
                </a:solidFill>
                <a:latin typeface="Aptos"/>
              </a:rPr>
              <a:t>Busy periods need clearer visibility of available capacity.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200400"/>
            <a:ext cx="5257800" cy="1170432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72200" y="3200400"/>
            <a:ext cx="64008" cy="1170432"/>
          </a:xfrm>
          <a:prstGeom prst="roundRect">
            <a:avLst>
              <a:gd name="adj" fmla="val 8000"/>
            </a:avLst>
          </a:prstGeom>
          <a:solidFill>
            <a:srgbClr val="A087FF"/>
          </a:solidFill>
          <a:ln>
            <a:solidFill>
              <a:srgbClr val="A0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40156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087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364992"/>
            <a:ext cx="4343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F"/>
                </a:solidFill>
                <a:latin typeface="Aptos"/>
              </a:rPr>
              <a:t>Missed announcements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858768"/>
            <a:ext cx="4343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0C9"/>
                </a:solidFill>
                <a:latin typeface="Aptos"/>
              </a:rPr>
              <a:t>Important club information can be scattered across channels.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4617720"/>
            <a:ext cx="5257800" cy="1170432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74720" y="4617720"/>
            <a:ext cx="64008" cy="1170432"/>
          </a:xfrm>
          <a:prstGeom prst="roundRect">
            <a:avLst>
              <a:gd name="adj" fmla="val 8000"/>
            </a:avLst>
          </a:prstGeom>
          <a:solidFill>
            <a:srgbClr val="4FC6FF"/>
          </a:solidFill>
          <a:ln>
            <a:solidFill>
              <a:srgbClr val="4F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481888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C6FF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4782312"/>
            <a:ext cx="4343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F"/>
                </a:solidFill>
                <a:latin typeface="Aptos"/>
              </a:rPr>
              <a:t>Manual records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5276088"/>
            <a:ext cx="4343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0C9"/>
                </a:solidFill>
                <a:latin typeface="Aptos"/>
              </a:rPr>
              <a:t>Attendance and operational records require repeated manual work.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47104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7B0C9"/>
                </a:solidFill>
                <a:latin typeface="Aptos"/>
              </a:rPr>
              <a:t>CLUBDASH  •  TEAM 096  •  2026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75520" y="6583680"/>
            <a:ext cx="1691640" cy="32004"/>
          </a:xfrm>
          <a:prstGeom prst="rect">
            <a:avLst/>
          </a:prstGeom>
          <a:solidFill>
            <a:srgbClr val="181E33"/>
          </a:solidFill>
          <a:ln>
            <a:solidFill>
              <a:srgbClr val="18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8"/>
          </a:solidFill>
          <a:ln>
            <a:solidFill>
              <a:srgbClr val="09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772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087FF"/>
                </a:solidFill>
                <a:latin typeface="Aptos"/>
              </a:rPr>
              <a:t>04 / TRACEABILITY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7FF"/>
                </a:solidFill>
                <a:latin typeface="Aptos"/>
              </a:rPr>
              <a:t>From interview finding to implemented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7B0C9"/>
                </a:solidFill>
                <a:latin typeface="Aptos"/>
              </a:rPr>
              <a:t>A direct chain connects research evidence to the final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7B0C9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331720" cy="475488"/>
          </a:xfrm>
          <a:prstGeom prst="roundRect">
            <a:avLst>
              <a:gd name="adj" fmla="val 8000"/>
            </a:avLst>
          </a:prstGeom>
          <a:solidFill>
            <a:srgbClr val="181E33"/>
          </a:solidFill>
          <a:ln>
            <a:solidFill>
              <a:srgbClr val="18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819656"/>
            <a:ext cx="2185415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A087FF"/>
                </a:solidFill>
                <a:latin typeface="Aptos"/>
              </a:rPr>
              <a:t>RESEARCH FINDING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8648" y="1691640"/>
            <a:ext cx="1874519" cy="475488"/>
          </a:xfrm>
          <a:prstGeom prst="roundRect">
            <a:avLst>
              <a:gd name="adj" fmla="val 8000"/>
            </a:avLst>
          </a:prstGeom>
          <a:solidFill>
            <a:srgbClr val="181E33"/>
          </a:solidFill>
          <a:ln>
            <a:solidFill>
              <a:srgbClr val="18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1819656"/>
            <a:ext cx="172821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A087FF"/>
                </a:solidFill>
                <a:latin typeface="Aptos"/>
              </a:rPr>
              <a:t>PAIN POINT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37175" y="1691640"/>
            <a:ext cx="3246120" cy="475488"/>
          </a:xfrm>
          <a:prstGeom prst="roundRect">
            <a:avLst>
              <a:gd name="adj" fmla="val 8000"/>
            </a:avLst>
          </a:prstGeom>
          <a:solidFill>
            <a:srgbClr val="181E33"/>
          </a:solidFill>
          <a:ln>
            <a:solidFill>
              <a:srgbClr val="18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0327" y="1819656"/>
            <a:ext cx="3099815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A087FF"/>
                </a:solidFill>
                <a:latin typeface="Aptos"/>
              </a:rPr>
              <a:t>USER STORY / NEED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47303" y="1691640"/>
            <a:ext cx="3703320" cy="475488"/>
          </a:xfrm>
          <a:prstGeom prst="roundRect">
            <a:avLst>
              <a:gd name="adj" fmla="val 8000"/>
            </a:avLst>
          </a:prstGeom>
          <a:solidFill>
            <a:srgbClr val="181E33"/>
          </a:solidFill>
          <a:ln>
            <a:solidFill>
              <a:srgbClr val="18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0455" y="1819656"/>
            <a:ext cx="3557015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A087FF"/>
                </a:solidFill>
                <a:latin typeface="Aptos"/>
              </a:rPr>
              <a:t>IMPLEMENTED RESPONSE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240280"/>
            <a:ext cx="2331720" cy="5943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2359152"/>
            <a:ext cx="2167127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F5F7FF"/>
                </a:solidFill>
                <a:latin typeface="Aptos"/>
              </a:rPr>
              <a:t>Phone / WhatsApp booking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98648" y="2240280"/>
            <a:ext cx="1874519" cy="5943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80944" y="2359152"/>
            <a:ext cx="17099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7B0C9"/>
                </a:solidFill>
                <a:latin typeface="Aptos"/>
              </a:rPr>
              <a:t>Fragmented booking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37175" y="2240280"/>
            <a:ext cx="3246120" cy="5943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9471" y="2359152"/>
            <a:ext cx="3081527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F"/>
                </a:solidFill>
                <a:latin typeface="Aptos"/>
              </a:rPr>
              <a:t>Member wants to book online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47303" y="2240280"/>
            <a:ext cx="3703320" cy="5943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9" y="2359152"/>
            <a:ext cx="3538727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F5F7FF"/>
                </a:solidFill>
                <a:latin typeface="Aptos"/>
              </a:rPr>
              <a:t>Book a Court + availability + My Bookings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953512"/>
            <a:ext cx="2331720" cy="5943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" y="3072384"/>
            <a:ext cx="2167127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F5F7FF"/>
                </a:solidFill>
                <a:latin typeface="Aptos"/>
              </a:rPr>
              <a:t>Manual booking updates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98648" y="2953512"/>
            <a:ext cx="1874519" cy="5943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80944" y="3072384"/>
            <a:ext cx="17099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7B0C9"/>
                </a:solidFill>
                <a:latin typeface="Aptos"/>
              </a:rPr>
              <a:t>Booking conflicts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37175" y="2953512"/>
            <a:ext cx="3246120" cy="5943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19471" y="3072384"/>
            <a:ext cx="3081527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F"/>
                </a:solidFill>
                <a:latin typeface="Aptos"/>
              </a:rPr>
              <a:t>Front Desk wants reliable updates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47303" y="2953512"/>
            <a:ext cx="3703320" cy="5943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9" y="3072384"/>
            <a:ext cx="3538727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F5F7FF"/>
                </a:solidFill>
                <a:latin typeface="Aptos"/>
              </a:rPr>
              <a:t>Shared booking state + staff availability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666744"/>
            <a:ext cx="2331720" cy="5943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" y="3785615"/>
            <a:ext cx="2167127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F5F7FF"/>
                </a:solidFill>
                <a:latin typeface="Aptos"/>
              </a:rPr>
              <a:t>Busy / peak hours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98648" y="3666744"/>
            <a:ext cx="1874519" cy="5943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80944" y="3785615"/>
            <a:ext cx="17099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7B0C9"/>
                </a:solidFill>
                <a:latin typeface="Aptos"/>
              </a:rPr>
              <a:t>Peak congestion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37175" y="3666744"/>
            <a:ext cx="3246120" cy="5943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19471" y="3785615"/>
            <a:ext cx="3081527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F"/>
                </a:solidFill>
                <a:latin typeface="Aptos"/>
              </a:rPr>
              <a:t>Need clear slot visibility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47303" y="3666744"/>
            <a:ext cx="3703320" cy="5943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599" y="3785615"/>
            <a:ext cx="3538727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F5F7FF"/>
                </a:solidFill>
                <a:latin typeface="Aptos"/>
              </a:rPr>
              <a:t>Court/time availability view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4379976"/>
            <a:ext cx="2331720" cy="5943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5216" y="4498848"/>
            <a:ext cx="2167127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F5F7FF"/>
                </a:solidFill>
                <a:latin typeface="Aptos"/>
              </a:rPr>
              <a:t>Manual attendance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898648" y="4379976"/>
            <a:ext cx="1874519" cy="5943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80944" y="4498848"/>
            <a:ext cx="17099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7B0C9"/>
                </a:solidFill>
                <a:latin typeface="Aptos"/>
              </a:rPr>
              <a:t>Manual records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37175" y="4379976"/>
            <a:ext cx="3246120" cy="5943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19471" y="4498848"/>
            <a:ext cx="3081527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F"/>
                </a:solidFill>
                <a:latin typeface="Aptos"/>
              </a:rPr>
              <a:t>Staff need attendance support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47303" y="4379976"/>
            <a:ext cx="3703320" cy="5943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599" y="4498848"/>
            <a:ext cx="3538727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F5F7FF"/>
                </a:solidFill>
                <a:latin typeface="Aptos"/>
              </a:rPr>
              <a:t>Attendance + check-in / check-out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5093208"/>
            <a:ext cx="2331720" cy="5943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5216" y="5212080"/>
            <a:ext cx="2167127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F5F7FF"/>
                </a:solidFill>
                <a:latin typeface="Aptos"/>
              </a:rPr>
              <a:t>Client booking-agent direction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898648" y="5093208"/>
            <a:ext cx="1874519" cy="5943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80944" y="5212080"/>
            <a:ext cx="17099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7B0C9"/>
                </a:solidFill>
                <a:latin typeface="Aptos"/>
              </a:rPr>
              <a:t>Navigation friction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37175" y="5093208"/>
            <a:ext cx="3246120" cy="5943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19471" y="5212080"/>
            <a:ext cx="3081527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F7FF"/>
                </a:solidFill>
                <a:latin typeface="Aptos"/>
              </a:rPr>
              <a:t>Users want easier access to club info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47303" y="5093208"/>
            <a:ext cx="3703320" cy="5943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599" y="5212080"/>
            <a:ext cx="3538727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F5F7FF"/>
                </a:solidFill>
                <a:latin typeface="Aptos"/>
              </a:rPr>
              <a:t>ClubDash AI + controlled tools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59893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5F7FF"/>
                </a:solidFill>
                <a:latin typeface="Aptos"/>
              </a:rPr>
              <a:t>Interview → Finding → Pain Point → User Story → Requirement → Feature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" y="6547104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7B0C9"/>
                </a:solidFill>
                <a:latin typeface="Aptos"/>
              </a:rPr>
              <a:t>CLUBDASH  •  TEAM 096  •  2026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75520" y="6583680"/>
            <a:ext cx="1691640" cy="32004"/>
          </a:xfrm>
          <a:prstGeom prst="rect">
            <a:avLst/>
          </a:prstGeom>
          <a:solidFill>
            <a:srgbClr val="181E33"/>
          </a:solidFill>
          <a:ln>
            <a:solidFill>
              <a:srgbClr val="18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8"/>
          </a:solidFill>
          <a:ln>
            <a:solidFill>
              <a:srgbClr val="09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772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087FF"/>
                </a:solidFill>
                <a:latin typeface="Aptos"/>
              </a:rPr>
              <a:t>05 / TASK →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7FF"/>
                </a:solidFill>
                <a:latin typeface="Aptos"/>
              </a:rPr>
              <a:t>One platform, different jobs-to-be-done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7B0C9"/>
                </a:solidFill>
                <a:latin typeface="Aptos"/>
              </a:rPr>
              <a:t>The roles are different, but they work on the same underlying club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7B0C9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474720" cy="329184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A5CFF"/>
                </a:solidFill>
                <a:latin typeface="Aptos"/>
              </a:rPr>
              <a:t>MEMBER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4203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7B0C9"/>
                </a:solidFill>
                <a:latin typeface="Aptos"/>
              </a:rPr>
              <a:t>Discover • Book • Manage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29260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Aptos"/>
              </a:rPr>
              <a:t>Dashboard
Book a Court
My Bookings
Memberships • Events
Nearby Courts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1783080"/>
            <a:ext cx="3474720" cy="329184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057400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FC6FF"/>
                </a:solidFill>
                <a:latin typeface="Aptos"/>
              </a:rPr>
              <a:t>FRONT DESK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54203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7B0C9"/>
                </a:solidFill>
                <a:latin typeface="Aptos"/>
              </a:rPr>
              <a:t>Operate the 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3154680"/>
            <a:ext cx="29260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Aptos"/>
              </a:rPr>
              <a:t>Bookings
Court availability
Members
Attendance
Operational 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84463" y="1783080"/>
            <a:ext cx="3474720" cy="329184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13063" y="2057400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4D297"/>
                </a:solidFill>
                <a:latin typeface="Aptos"/>
              </a:rPr>
              <a:t>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3063" y="254203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7B0C9"/>
                </a:solidFill>
                <a:latin typeface="Aptos"/>
              </a:rPr>
              <a:t>Manage the club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13063" y="3154680"/>
            <a:ext cx="29260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Aptos"/>
              </a:rPr>
              <a:t>Members
Bookings
Events
Announcements
Analytics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5486400"/>
            <a:ext cx="2013965" cy="475488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74519" y="5605272"/>
            <a:ext cx="192252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PUBLIC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2765" y="5596128"/>
            <a:ext cx="1188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A087FF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61637" y="5486400"/>
            <a:ext cx="2013965" cy="475488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07357" y="5605272"/>
            <a:ext cx="192252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MEMBER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75603" y="5596128"/>
            <a:ext cx="1188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A087FF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4475" y="5486400"/>
            <a:ext cx="2013965" cy="475488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40195" y="5605272"/>
            <a:ext cx="192252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STAFF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08442" y="5596128"/>
            <a:ext cx="1188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A087FF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7313" y="5486400"/>
            <a:ext cx="2013965" cy="475488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3033" y="5605272"/>
            <a:ext cx="192252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ADMIN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47104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7B0C9"/>
                </a:solidFill>
                <a:latin typeface="Aptos"/>
              </a:rPr>
              <a:t>CLUBDASH  •  TEAM 096  •  2026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75520" y="6583680"/>
            <a:ext cx="1691640" cy="32004"/>
          </a:xfrm>
          <a:prstGeom prst="rect">
            <a:avLst/>
          </a:prstGeom>
          <a:solidFill>
            <a:srgbClr val="181E33"/>
          </a:solidFill>
          <a:ln>
            <a:solidFill>
              <a:srgbClr val="18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8"/>
          </a:solidFill>
          <a:ln>
            <a:solidFill>
              <a:srgbClr val="09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772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087FF"/>
                </a:solidFill>
                <a:latin typeface="Aptos"/>
              </a:rPr>
              <a:t>06 / ACTION — 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7FF"/>
                </a:solidFill>
                <a:latin typeface="Aptos"/>
              </a:rPr>
              <a:t>The member starts from one central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7B0C9"/>
                </a:solidFill>
                <a:latin typeface="Aptos"/>
              </a:rPr>
              <a:t>The dashboard brings the next booking, booking metrics, notices and AI assistance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7B0C9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7452360" cy="434340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hot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55839"/>
            <a:ext cx="7452360" cy="3997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66760" y="1783080"/>
            <a:ext cx="3246120" cy="434340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41080" y="2057400"/>
            <a:ext cx="1143000" cy="310896"/>
          </a:xfrm>
          <a:prstGeom prst="roundRect">
            <a:avLst>
              <a:gd name="adj" fmla="val 8000"/>
            </a:avLst>
          </a:prstGeom>
          <a:solidFill>
            <a:srgbClr val="181E33"/>
          </a:solidFill>
          <a:ln>
            <a:solidFill>
              <a:srgbClr val="7A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4232" y="2103120"/>
            <a:ext cx="9966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7A5CFF"/>
                </a:solidFill>
                <a:latin typeface="Aptos"/>
              </a:rPr>
              <a:t>MEMBER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265176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F"/>
                </a:solidFill>
                <a:latin typeface="Aptos"/>
              </a:rPr>
              <a:t>Login →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3236976"/>
            <a:ext cx="18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087FF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3246120"/>
            <a:ext cx="2423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7FF"/>
                </a:solidFill>
                <a:latin typeface="Aptos"/>
              </a:rPr>
              <a:t>See upcoming reservation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3785616"/>
            <a:ext cx="18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087FF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3794760"/>
            <a:ext cx="2423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7FF"/>
                </a:solidFill>
                <a:latin typeface="Aptos"/>
              </a:rPr>
              <a:t>View booking totals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4334256"/>
            <a:ext cx="18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087FF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4343400"/>
            <a:ext cx="2423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7FF"/>
                </a:solidFill>
                <a:latin typeface="Aptos"/>
              </a:rPr>
              <a:t>Read club notices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4882896"/>
            <a:ext cx="18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087FF"/>
                </a:solidFill>
                <a:latin typeface="Apto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892040"/>
            <a:ext cx="2423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7FF"/>
                </a:solidFill>
                <a:latin typeface="Aptos"/>
              </a:rPr>
              <a:t>Open ClubDash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7B0C9"/>
                </a:solidFill>
                <a:latin typeface="Aptos"/>
              </a:rPr>
              <a:t>CLUBDASH  •  TEAM 096  • 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75520" y="6583680"/>
            <a:ext cx="1691640" cy="32004"/>
          </a:xfrm>
          <a:prstGeom prst="rect">
            <a:avLst/>
          </a:prstGeom>
          <a:solidFill>
            <a:srgbClr val="181E33"/>
          </a:solidFill>
          <a:ln>
            <a:solidFill>
              <a:srgbClr val="18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8"/>
          </a:solidFill>
          <a:ln>
            <a:solidFill>
              <a:srgbClr val="09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772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087FF"/>
                </a:solidFill>
                <a:latin typeface="Aptos"/>
              </a:rPr>
              <a:t>07 / ACTION — BOOKING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7FF"/>
                </a:solidFill>
                <a:latin typeface="Aptos"/>
              </a:rPr>
              <a:t>Availability is checked before the reservation is created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7B0C9"/>
                </a:solidFill>
                <a:latin typeface="Aptos"/>
              </a:rPr>
              <a:t>The booking flow directly addresses fragmented booking and conflict problems.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7B0C9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8458200" cy="443484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ho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04893"/>
            <a:ext cx="8458200" cy="399121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189720" y="1783080"/>
            <a:ext cx="2423160" cy="443484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0" y="20574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087FF"/>
                </a:solidFill>
                <a:latin typeface="Aptos"/>
              </a:rPr>
              <a:t>SMART BOOKING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2734056"/>
            <a:ext cx="18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A087FF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2743200"/>
            <a:ext cx="1600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5F7FF"/>
                </a:solidFill>
                <a:latin typeface="Aptos"/>
              </a:rPr>
              <a:t>Select club and 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3282696"/>
            <a:ext cx="18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A087FF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3291840"/>
            <a:ext cx="1600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5F7FF"/>
                </a:solidFill>
                <a:latin typeface="Aptos"/>
              </a:rPr>
              <a:t>Choose sport / court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3831336"/>
            <a:ext cx="18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A087FF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3840480"/>
            <a:ext cx="1600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5F7FF"/>
                </a:solidFill>
                <a:latin typeface="Aptos"/>
              </a:rPr>
              <a:t>See available slots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4379976"/>
            <a:ext cx="18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A087FF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4389120"/>
            <a:ext cx="1600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5F7FF"/>
                </a:solidFill>
                <a:latin typeface="Aptos"/>
              </a:rPr>
              <a:t>Past-time protection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4928616"/>
            <a:ext cx="18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A087FF"/>
                </a:solidFill>
                <a:latin typeface="Apto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4937760"/>
            <a:ext cx="1600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5F7FF"/>
                </a:solidFill>
                <a:latin typeface="Aptos"/>
              </a:rPr>
              <a:t>Conflict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7B0C9"/>
                </a:solidFill>
                <a:latin typeface="Aptos"/>
              </a:rPr>
              <a:t>CLUBDASH  •  TEAM 096  • 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75520" y="6583680"/>
            <a:ext cx="1691640" cy="32004"/>
          </a:xfrm>
          <a:prstGeom prst="rect">
            <a:avLst/>
          </a:prstGeom>
          <a:solidFill>
            <a:srgbClr val="181E33"/>
          </a:solidFill>
          <a:ln>
            <a:solidFill>
              <a:srgbClr val="18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8"/>
          </a:solidFill>
          <a:ln>
            <a:solidFill>
              <a:srgbClr val="09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772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087FF"/>
                </a:solidFill>
                <a:latin typeface="Aptos"/>
              </a:rPr>
              <a:t>08 / ACTION — MANAGE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7FF"/>
                </a:solidFill>
                <a:latin typeface="Aptos"/>
              </a:rPr>
              <a:t>A reservation remains manageable after booking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7B0C9"/>
                </a:solidFill>
                <a:latin typeface="Aptos"/>
              </a:rPr>
              <a:t>My Bookings gives members a traceable record of their activity.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7B0C9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486400" cy="434340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ho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60332"/>
            <a:ext cx="5486400" cy="258889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99632" y="1783080"/>
            <a:ext cx="5440680" cy="434340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hot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671119"/>
            <a:ext cx="5440680" cy="2567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626364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A7B0C9"/>
                </a:solidFill>
                <a:latin typeface="Aptos"/>
              </a:rPr>
              <a:t>Upcoming / past reservations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626364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A7B0C9"/>
                </a:solidFill>
                <a:latin typeface="Aptos"/>
              </a:rPr>
              <a:t>Booking details + release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47104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7B0C9"/>
                </a:solidFill>
                <a:latin typeface="Aptos"/>
              </a:rPr>
              <a:t>CLUBDASH  •  TEAM 096  • 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75520" y="6583680"/>
            <a:ext cx="1691640" cy="32004"/>
          </a:xfrm>
          <a:prstGeom prst="rect">
            <a:avLst/>
          </a:prstGeom>
          <a:solidFill>
            <a:srgbClr val="181E33"/>
          </a:solidFill>
          <a:ln>
            <a:solidFill>
              <a:srgbClr val="18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8"/>
          </a:solidFill>
          <a:ln>
            <a:solidFill>
              <a:srgbClr val="09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772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087FF"/>
                </a:solidFill>
                <a:latin typeface="Aptos"/>
              </a:rPr>
              <a:t>09 / ACTION — 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7FF"/>
                </a:solidFill>
                <a:latin typeface="Aptos"/>
              </a:rPr>
              <a:t>Nearby Courts connects location to the booking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7B0C9"/>
                </a:solidFill>
                <a:latin typeface="Aptos"/>
              </a:rPr>
              <a:t>Users can discover a venue, view route context and inspect available courts.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7B0C9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7772400" cy="452628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hot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20979"/>
            <a:ext cx="7772400" cy="366760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549640" y="1691640"/>
            <a:ext cx="3063240" cy="452628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23960" y="2011680"/>
            <a:ext cx="1005840" cy="310896"/>
          </a:xfrm>
          <a:prstGeom prst="roundRect">
            <a:avLst>
              <a:gd name="adj" fmla="val 8000"/>
            </a:avLst>
          </a:prstGeom>
          <a:solidFill>
            <a:srgbClr val="181E33"/>
          </a:solidFill>
          <a:ln>
            <a:solidFill>
              <a:srgbClr val="4F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97112" y="2057400"/>
            <a:ext cx="8595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4FC6FF"/>
                </a:solidFill>
                <a:latin typeface="Aptos"/>
              </a:rPr>
              <a:t>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688336"/>
            <a:ext cx="18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087FF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697480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7FF"/>
                </a:solidFill>
                <a:latin typeface="Aptos"/>
              </a:rPr>
              <a:t>Nearby venue markers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3236976"/>
            <a:ext cx="18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087FF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246120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7FF"/>
                </a:solidFill>
                <a:latin typeface="Aptos"/>
              </a:rPr>
              <a:t>Distance and ETA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3785616"/>
            <a:ext cx="18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087FF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794760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7FF"/>
                </a:solidFill>
                <a:latin typeface="Aptos"/>
              </a:rPr>
              <a:t>Road-route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4334256"/>
            <a:ext cx="18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087FF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4343400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7FF"/>
                </a:solidFill>
                <a:latin typeface="Aptos"/>
              </a:rPr>
              <a:t>Sport / court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4882896"/>
            <a:ext cx="18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087FF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4892040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7FF"/>
                </a:solidFill>
                <a:latin typeface="Aptos"/>
              </a:rPr>
              <a:t>Navigation handoff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47104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7B0C9"/>
                </a:solidFill>
                <a:latin typeface="Aptos"/>
              </a:rPr>
              <a:t>CLUBDASH  •  TEAM 096  • 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75520" y="6583680"/>
            <a:ext cx="1691640" cy="32004"/>
          </a:xfrm>
          <a:prstGeom prst="rect">
            <a:avLst/>
          </a:prstGeom>
          <a:solidFill>
            <a:srgbClr val="181E33"/>
          </a:solidFill>
          <a:ln>
            <a:solidFill>
              <a:srgbClr val="18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8"/>
          </a:solidFill>
          <a:ln>
            <a:solidFill>
              <a:srgbClr val="09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772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087FF"/>
                </a:solidFill>
                <a:latin typeface="Aptos"/>
              </a:rPr>
              <a:t>10 / ACTION — STAFF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7FF"/>
                </a:solidFill>
                <a:latin typeface="Aptos"/>
              </a:rPr>
              <a:t>The same booking becomes an operational commitment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7B0C9"/>
                </a:solidFill>
                <a:latin typeface="Aptos"/>
              </a:rPr>
              <a:t>Staff see the day's courts and slots through a dedicated front-desk workflow.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7B0C9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7315200" cy="44805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ho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51710"/>
            <a:ext cx="7315200" cy="34518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737360"/>
            <a:ext cx="3520440" cy="44805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205740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FC6FF"/>
                </a:solidFill>
                <a:latin typeface="Aptos"/>
              </a:rPr>
              <a:t>SHARED SOURCE OF TRUTH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788920"/>
            <a:ext cx="914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7B0C9"/>
                </a:solidFill>
                <a:latin typeface="Aptos"/>
              </a:rPr>
              <a:t>Member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27889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7FF"/>
                </a:solidFill>
                <a:latin typeface="Aptos"/>
              </a:rPr>
              <a:t>“I booked this slot.”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318211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087FF"/>
                </a:solidFill>
                <a:latin typeface="Aptos"/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657600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7B0C9"/>
                </a:solidFill>
                <a:latin typeface="Aptos"/>
              </a:rPr>
              <a:t>Front Desk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36576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7FF"/>
                </a:solidFill>
                <a:latin typeface="Aptos"/>
              </a:rPr>
              <a:t>“This slot is BOOKED.”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4334256"/>
            <a:ext cx="18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A087FF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343400"/>
            <a:ext cx="2514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5F7FF"/>
                </a:solidFill>
                <a:latin typeface="Aptos"/>
              </a:rPr>
              <a:t>Live availability matrix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791456"/>
            <a:ext cx="18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A087FF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4800600"/>
            <a:ext cx="2514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5F7FF"/>
                </a:solidFill>
                <a:latin typeface="Aptos"/>
              </a:rPr>
              <a:t>Bookings and members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5248656"/>
            <a:ext cx="18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A087FF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5257800"/>
            <a:ext cx="2514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5F7FF"/>
                </a:solidFill>
                <a:latin typeface="Aptos"/>
              </a:rPr>
              <a:t>Attendance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47104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7B0C9"/>
                </a:solidFill>
                <a:latin typeface="Aptos"/>
              </a:rPr>
              <a:t>CLUBDASH  •  TEAM 096  • 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75520" y="6583680"/>
            <a:ext cx="1691640" cy="32004"/>
          </a:xfrm>
          <a:prstGeom prst="rect">
            <a:avLst/>
          </a:prstGeom>
          <a:solidFill>
            <a:srgbClr val="181E33"/>
          </a:solidFill>
          <a:ln>
            <a:solidFill>
              <a:srgbClr val="18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8"/>
          </a:solidFill>
          <a:ln>
            <a:solidFill>
              <a:srgbClr val="09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772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087FF"/>
                </a:solidFill>
                <a:latin typeface="Aptos"/>
              </a:rPr>
              <a:t>11 / ACTION —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7FF"/>
                </a:solidFill>
                <a:latin typeface="Aptos"/>
              </a:rPr>
              <a:t>ClubDash AI adds conversational access without bypassing permissions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7B0C9"/>
                </a:solidFill>
                <a:latin typeface="Aptos"/>
              </a:rPr>
              <a:t>Phase 1 is read-only and uses approved server-side tools.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7B0C9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5806440" cy="452628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hot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97323"/>
            <a:ext cx="5806440" cy="311491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629400" y="1691640"/>
            <a:ext cx="4983480" cy="452628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2011680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087FF"/>
                </a:solidFill>
                <a:latin typeface="Aptos"/>
              </a:rPr>
              <a:t>ROLE-AWARE AI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2606040"/>
            <a:ext cx="914400" cy="384048"/>
          </a:xfrm>
          <a:prstGeom prst="roundRect">
            <a:avLst>
              <a:gd name="adj" fmla="val 8000"/>
            </a:avLst>
          </a:prstGeom>
          <a:solidFill>
            <a:srgbClr val="181E33"/>
          </a:solidFill>
          <a:ln>
            <a:solidFill>
              <a:srgbClr val="18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31152" y="2706624"/>
            <a:ext cx="8595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5F7FF"/>
                </a:solidFill>
                <a:latin typeface="Aptos"/>
              </a:rPr>
              <a:t>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697480"/>
            <a:ext cx="3154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7B0C9"/>
                </a:solidFill>
                <a:latin typeface="Aptos"/>
              </a:rPr>
              <a:t>Natural-language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990088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087FF"/>
                </a:solidFill>
                <a:latin typeface="Aptos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246120"/>
            <a:ext cx="914400" cy="384048"/>
          </a:xfrm>
          <a:prstGeom prst="roundRect">
            <a:avLst>
              <a:gd name="adj" fmla="val 8000"/>
            </a:avLst>
          </a:prstGeom>
          <a:solidFill>
            <a:srgbClr val="181E33"/>
          </a:solidFill>
          <a:ln>
            <a:solidFill>
              <a:srgbClr val="18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3346703"/>
            <a:ext cx="8595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5F7FF"/>
                </a:solidFill>
                <a:latin typeface="Aptos"/>
              </a:rPr>
              <a:t>VUE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337560"/>
            <a:ext cx="3154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7B0C9"/>
                </a:solidFill>
                <a:latin typeface="Aptos"/>
              </a:rPr>
              <a:t>Assistant widget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630168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087FF"/>
                </a:solidFill>
                <a:latin typeface="Aptos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3886200"/>
            <a:ext cx="914400" cy="384048"/>
          </a:xfrm>
          <a:prstGeom prst="roundRect">
            <a:avLst>
              <a:gd name="adj" fmla="val 8000"/>
            </a:avLst>
          </a:prstGeom>
          <a:solidFill>
            <a:srgbClr val="181E33"/>
          </a:solidFill>
          <a:ln>
            <a:solidFill>
              <a:srgbClr val="18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31152" y="3986784"/>
            <a:ext cx="8595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5F7FF"/>
                </a:solidFill>
                <a:latin typeface="Aptos"/>
              </a:rPr>
              <a:t>FLASK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977639"/>
            <a:ext cx="3154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7B0C9"/>
                </a:solidFill>
                <a:latin typeface="Aptos"/>
              </a:rPr>
              <a:t>Auth + role checks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270248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087FF"/>
                </a:solidFill>
                <a:latin typeface="Aptos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4526279"/>
            <a:ext cx="914400" cy="384048"/>
          </a:xfrm>
          <a:prstGeom prst="roundRect">
            <a:avLst>
              <a:gd name="adj" fmla="val 8000"/>
            </a:avLst>
          </a:prstGeom>
          <a:solidFill>
            <a:srgbClr val="181E33"/>
          </a:solidFill>
          <a:ln>
            <a:solidFill>
              <a:srgbClr val="18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31152" y="4626864"/>
            <a:ext cx="8595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5F7FF"/>
                </a:solidFill>
                <a:latin typeface="Aptos"/>
              </a:rPr>
              <a:t>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617719"/>
            <a:ext cx="3154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7B0C9"/>
                </a:solidFill>
                <a:latin typeface="Aptos"/>
              </a:rPr>
              <a:t>Approved read-only functions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910327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087FF"/>
                </a:solidFill>
                <a:latin typeface="Aptos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3720" y="5166360"/>
            <a:ext cx="914400" cy="384048"/>
          </a:xfrm>
          <a:prstGeom prst="roundRect">
            <a:avLst>
              <a:gd name="adj" fmla="val 8000"/>
            </a:avLst>
          </a:prstGeom>
          <a:solidFill>
            <a:srgbClr val="181E33"/>
          </a:solidFill>
          <a:ln>
            <a:solidFill>
              <a:srgbClr val="18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31152" y="5266944"/>
            <a:ext cx="8595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5F7FF"/>
                </a:solidFill>
                <a:latin typeface="Aptos"/>
              </a:rPr>
              <a:t>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5257800"/>
            <a:ext cx="3154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7B0C9"/>
                </a:solidFill>
                <a:latin typeface="Aptos"/>
              </a:rPr>
              <a:t>Club services / DB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03720" y="5623560"/>
            <a:ext cx="2057400" cy="310896"/>
          </a:xfrm>
          <a:prstGeom prst="roundRect">
            <a:avLst>
              <a:gd name="adj" fmla="val 8000"/>
            </a:avLst>
          </a:prstGeom>
          <a:solidFill>
            <a:srgbClr val="181E33"/>
          </a:solidFill>
          <a:ln>
            <a:solidFill>
              <a:srgbClr val="FF6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76872" y="5669280"/>
            <a:ext cx="1911095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6C7E"/>
                </a:solidFill>
                <a:latin typeface="Aptos"/>
              </a:rPr>
              <a:t>NO DIRECT DATABASE ACCESS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5623560"/>
            <a:ext cx="2148840" cy="310896"/>
          </a:xfrm>
          <a:prstGeom prst="roundRect">
            <a:avLst>
              <a:gd name="adj" fmla="val 8000"/>
            </a:avLst>
          </a:prstGeom>
          <a:solidFill>
            <a:srgbClr val="181E33"/>
          </a:solidFill>
          <a:ln>
            <a:solidFill>
              <a:srgbClr val="54D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71432" y="5669280"/>
            <a:ext cx="20025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54D297"/>
                </a:solidFill>
                <a:latin typeface="Aptos"/>
              </a:rPr>
              <a:t>NO WRITE TOOLS IN PHASE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47104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7B0C9"/>
                </a:solidFill>
                <a:latin typeface="Aptos"/>
              </a:rPr>
              <a:t>CLUBDASH  •  TEAM 096  •  2026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75520" y="6583680"/>
            <a:ext cx="1691640" cy="32004"/>
          </a:xfrm>
          <a:prstGeom prst="rect">
            <a:avLst/>
          </a:prstGeom>
          <a:solidFill>
            <a:srgbClr val="181E33"/>
          </a:solidFill>
          <a:ln>
            <a:solidFill>
              <a:srgbClr val="18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8"/>
          </a:solidFill>
          <a:ln>
            <a:solidFill>
              <a:srgbClr val="09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772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087FF"/>
                </a:solidFill>
                <a:latin typeface="Aptos"/>
              </a:rPr>
              <a:t>12 / COMPLETE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7FF"/>
                </a:solidFill>
                <a:latin typeface="Aptos"/>
              </a:rPr>
              <a:t>One connected journey across the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7B0C9"/>
                </a:solidFill>
                <a:latin typeface="Aptos"/>
              </a:rPr>
              <a:t>The demo should feel like one product, not a collection of isolated screens.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7B0C9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20240"/>
            <a:ext cx="1645920" cy="15087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12140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087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487168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F"/>
                </a:solidFill>
                <a:latin typeface="Aptos"/>
              </a:rPr>
              <a:t>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816352"/>
            <a:ext cx="12984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7B0C9"/>
                </a:solidFill>
                <a:latin typeface="Aptos"/>
              </a:rPr>
              <a:t>Landing → Sign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8568" y="2487168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A087FF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96312" y="1920240"/>
            <a:ext cx="1645920" cy="15087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60904" y="212140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087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0904" y="2487168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F"/>
                </a:solidFill>
                <a:latin typeface="Aptos"/>
              </a:rPr>
              <a:t>ORIENT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0904" y="2816352"/>
            <a:ext cx="12984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7B0C9"/>
                </a:solidFill>
                <a:latin typeface="Aptos"/>
              </a:rPr>
              <a:t>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487168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A087FF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98264" y="1920240"/>
            <a:ext cx="1645920" cy="15087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2856" y="212140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087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6" y="2487168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F"/>
                </a:solidFill>
                <a:latin typeface="Aptos"/>
              </a:rPr>
              <a:t>BOOK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2816352"/>
            <a:ext cx="12984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7B0C9"/>
                </a:solidFill>
                <a:latin typeface="Aptos"/>
              </a:rPr>
              <a:t>Court + slot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62472" y="2487168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A087FF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0216" y="1920240"/>
            <a:ext cx="1645920" cy="15087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212140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087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2487168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F"/>
                </a:solidFill>
                <a:latin typeface="Aptos"/>
              </a:rPr>
              <a:t>MANAGE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2816352"/>
            <a:ext cx="12984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7B0C9"/>
                </a:solidFill>
                <a:latin typeface="Aptos"/>
              </a:rPr>
              <a:t>My Bookings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64424" y="2487168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A087FF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02168" y="1920240"/>
            <a:ext cx="1645920" cy="15087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212140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087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487168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F"/>
                </a:solidFill>
                <a:latin typeface="Aptos"/>
              </a:rPr>
              <a:t>OPERATE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816352"/>
            <a:ext cx="12984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7B0C9"/>
                </a:solidFill>
                <a:latin typeface="Aptos"/>
              </a:rPr>
              <a:t>Staff 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66376" y="2487168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A087FF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04120" y="1920240"/>
            <a:ext cx="1645920" cy="15087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68712" y="212140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087FF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68712" y="2487168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F"/>
                </a:solidFill>
                <a:latin typeface="Aptos"/>
              </a:rPr>
              <a:t>ASSIST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68712" y="2816352"/>
            <a:ext cx="12984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7B0C9"/>
                </a:solidFill>
                <a:latin typeface="Aptos"/>
              </a:rPr>
              <a:t>ClubDash AI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17320" y="4160520"/>
            <a:ext cx="9372600" cy="1097280"/>
          </a:xfrm>
          <a:prstGeom prst="roundRect">
            <a:avLst>
              <a:gd name="adj" fmla="val 8000"/>
            </a:avLst>
          </a:prstGeom>
          <a:solidFill>
            <a:srgbClr val="181E33"/>
          </a:solidFill>
          <a:ln>
            <a:solidFill>
              <a:srgbClr val="18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37360" y="440740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4D297"/>
                </a:solidFill>
                <a:latin typeface="Aptos"/>
              </a:rPr>
              <a:t>ADMIN / MANAGEMENT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4370832"/>
            <a:ext cx="6309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Members • Bookings • Events • Announcements • Analytics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562356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5F7FF"/>
                </a:solidFill>
                <a:latin typeface="Aptos"/>
              </a:rPr>
              <a:t>Core principle: shared reservation state + role-specific experiences.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547104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7B0C9"/>
                </a:solidFill>
                <a:latin typeface="Aptos"/>
              </a:rPr>
              <a:t>CLUBDASH  •  TEAM 096  •  2026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75520" y="6583680"/>
            <a:ext cx="1691640" cy="32004"/>
          </a:xfrm>
          <a:prstGeom prst="rect">
            <a:avLst/>
          </a:prstGeom>
          <a:solidFill>
            <a:srgbClr val="181E33"/>
          </a:solidFill>
          <a:ln>
            <a:solidFill>
              <a:srgbClr val="18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8"/>
          </a:solidFill>
          <a:ln>
            <a:solidFill>
              <a:srgbClr val="09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772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087FF"/>
                </a:solidFill>
                <a:latin typeface="Aptos"/>
              </a:rPr>
              <a:t>13 /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7FF"/>
                </a:solidFill>
                <a:latin typeface="Aptos"/>
              </a:rPr>
              <a:t>What changed from the original problem?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7B0C9"/>
                </a:solidFill>
                <a:latin typeface="Aptos"/>
              </a:rPr>
              <a:t>The final product maps directly back to the research.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7B0C9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4114800" cy="54864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37490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7B0C9"/>
                </a:solidFill>
                <a:latin typeface="Aptos"/>
              </a:rPr>
              <a:t>FRAGMENTED BOOKING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10912" y="1911095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087FF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32120" y="1783080"/>
            <a:ext cx="5943600" cy="54864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1938528"/>
            <a:ext cx="5577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F"/>
                </a:solidFill>
                <a:latin typeface="Aptos"/>
              </a:rPr>
              <a:t>Centralized court booking + My Bookings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569464"/>
            <a:ext cx="4114800" cy="54864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24912"/>
            <a:ext cx="37490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7B0C9"/>
                </a:solidFill>
                <a:latin typeface="Aptos"/>
              </a:rPr>
              <a:t>MANUAL SCHEDULING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0912" y="269748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087FF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2120" y="2569464"/>
            <a:ext cx="5943600" cy="54864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0" y="2724912"/>
            <a:ext cx="5577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F"/>
                </a:solidFill>
                <a:latin typeface="Aptos"/>
              </a:rPr>
              <a:t>Live court/time availability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55848"/>
            <a:ext cx="4114800" cy="54864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511296"/>
            <a:ext cx="37490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7B0C9"/>
                </a:solidFill>
                <a:latin typeface="Aptos"/>
              </a:rPr>
              <a:t>PEAK-HOUR CONGESTION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3483864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087FF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32120" y="3355848"/>
            <a:ext cx="5943600" cy="54864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0" y="3511296"/>
            <a:ext cx="5577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F"/>
                </a:solidFill>
                <a:latin typeface="Aptos"/>
              </a:rPr>
              <a:t>Clear slot visibility and booking validation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4114800" cy="54864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297680"/>
            <a:ext cx="37490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7B0C9"/>
                </a:solidFill>
                <a:latin typeface="Aptos"/>
              </a:rPr>
              <a:t>MISSED UPDATES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10912" y="427024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087FF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32120" y="4142232"/>
            <a:ext cx="5943600" cy="54864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0" y="4297680"/>
            <a:ext cx="5577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F"/>
                </a:solidFill>
                <a:latin typeface="Aptos"/>
              </a:rPr>
              <a:t>Club announcements and notices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928616"/>
            <a:ext cx="4114800" cy="54864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084064"/>
            <a:ext cx="37490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7B0C9"/>
                </a:solidFill>
                <a:latin typeface="Aptos"/>
              </a:rPr>
              <a:t>MANUAL RECORDS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0912" y="5056631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087FF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32120" y="4928616"/>
            <a:ext cx="5943600" cy="54864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5084064"/>
            <a:ext cx="5577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5F7FF"/>
                </a:solidFill>
                <a:latin typeface="Aptos"/>
              </a:rPr>
              <a:t>Attendance and operational workflows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897880"/>
            <a:ext cx="10561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5F7FF"/>
                </a:solidFill>
                <a:latin typeface="Aptos"/>
              </a:rPr>
              <a:t>Result: one connected platform where members book and manage, staff operate, and administrators manage the club.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47104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7B0C9"/>
                </a:solidFill>
                <a:latin typeface="Aptos"/>
              </a:rPr>
              <a:t>CLUBDASH  •  TEAM 096  •  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75520" y="6583680"/>
            <a:ext cx="1691640" cy="32004"/>
          </a:xfrm>
          <a:prstGeom prst="rect">
            <a:avLst/>
          </a:prstGeom>
          <a:solidFill>
            <a:srgbClr val="181E33"/>
          </a:solidFill>
          <a:ln>
            <a:solidFill>
              <a:srgbClr val="18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8"/>
          </a:solidFill>
          <a:ln>
            <a:solidFill>
              <a:srgbClr val="09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94360"/>
            <a:ext cx="2743200" cy="15087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hot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01516"/>
            <a:ext cx="2743200" cy="129444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401568" y="594360"/>
            <a:ext cx="2743200" cy="15087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hot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612933"/>
            <a:ext cx="2743200" cy="14716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00216" y="594360"/>
            <a:ext cx="2560320" cy="15087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hot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216" y="744664"/>
            <a:ext cx="2560320" cy="120815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015984" y="594360"/>
            <a:ext cx="2651760" cy="15087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hot_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5984" y="723090"/>
            <a:ext cx="2651760" cy="125129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2331720"/>
            <a:ext cx="2743200" cy="15087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hot_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2438876"/>
            <a:ext cx="2743200" cy="129444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401568" y="2331720"/>
            <a:ext cx="2743200" cy="15087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hot_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1568" y="2438876"/>
            <a:ext cx="2743200" cy="1294447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300216" y="2331720"/>
            <a:ext cx="2560320" cy="15087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hot_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0216" y="2482024"/>
            <a:ext cx="2560320" cy="1208151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015984" y="2331720"/>
            <a:ext cx="2651760" cy="150876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>
            <a:solidFill>
              <a:srgbClr val="121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hot_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15984" y="2460450"/>
            <a:ext cx="2651760" cy="1251299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02920" y="4160520"/>
            <a:ext cx="11164824" cy="2011680"/>
          </a:xfrm>
          <a:prstGeom prst="rect">
            <a:avLst/>
          </a:prstGeom>
          <a:solidFill>
            <a:srgbClr val="090C18"/>
          </a:solidFill>
          <a:ln>
            <a:solidFill>
              <a:srgbClr val="090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343400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7FF"/>
                </a:solidFill>
                <a:latin typeface="Aptos"/>
              </a:rPr>
              <a:t>CLUBDASH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92040"/>
            <a:ext cx="5486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A087FF"/>
                </a:solidFill>
                <a:latin typeface="Aptos"/>
              </a:rPr>
              <a:t>Book. Manage. Operate. Assist.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413248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7B0C9"/>
                </a:solidFill>
                <a:latin typeface="Aptos"/>
              </a:rPr>
              <a:t>We identified the problem, researched it, translated it into user stories and requirements, and built the connected solution.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56235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F5F7FF"/>
                </a:solidFill>
                <a:latin typeface="Aptos"/>
              </a:rPr>
              <a:t>Thank you.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263640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7B0C9"/>
                </a:solidFill>
                <a:latin typeface="Aptos"/>
              </a:rPr>
              <a:t>TEAM 096  •  SPORTS FACILITY BOOKING &amp; CLUB MANAGEMENT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